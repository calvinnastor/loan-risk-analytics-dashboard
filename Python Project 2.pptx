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Slab"/>
      <p:regular r:id="rId30"/>
      <p:bold r:id="rId31"/>
    </p:embeddedFont>
    <p:embeddedFont>
      <p:font typeface="Robo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lab-bold.fntdata"/><Relationship Id="rId30" Type="http://schemas.openxmlformats.org/officeDocument/2006/relationships/font" Target="fonts/RobotoSlab-regular.fntdata"/><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c8a98a6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c8a98a6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c8a98a63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c8a98a63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c8a98a63a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c8a98a63a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c8a98a63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c8a98a6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c8a98a63a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c8a98a63a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c8a98a63a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c8a98a63a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c8a98a63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c8a98a63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c8a98a63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c8a98a63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c8a98a63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c8a98a63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c8a98a63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c8a98a63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c8a98a63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c8a98a63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c8a98a63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c8a98a63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c8a98a63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c8a98a63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c8a98a63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c8a98a63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c8a98a63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c8a98a63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c8a98a63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ac8a98a63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c8a98a63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c8a98a63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c8a98a63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c8a98a63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c8a98a63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c8a98a63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c8a98a63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c8a98a63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c8a98a63a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c8a98a63a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c8a98a63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c8a98a63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c8a98a63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c8a98a63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0.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7.png"/><Relationship Id="rId5" Type="http://schemas.openxmlformats.org/officeDocument/2006/relationships/image" Target="../media/image19.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8.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Python Dashboard Project</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Calvin Nastor and Navid Ghorbanali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Problem Statement and Objective</a:t>
            </a:r>
            <a:endParaRPr/>
          </a:p>
        </p:txBody>
      </p:sp>
      <p:sp>
        <p:nvSpPr>
          <p:cNvPr id="70" name="Google Shape;70;p14"/>
          <p:cNvSpPr txBox="1"/>
          <p:nvPr>
            <p:ph idx="1" type="body"/>
          </p:nvPr>
        </p:nvSpPr>
        <p:spPr>
          <a:xfrm>
            <a:off x="387900" y="1489825"/>
            <a:ext cx="44913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t>CHALLENGE:</a:t>
            </a:r>
            <a:endParaRPr b="1" sz="1500"/>
          </a:p>
          <a:p>
            <a:pPr indent="0" lvl="0" marL="0" rtl="0" algn="l">
              <a:spcBef>
                <a:spcPts val="0"/>
              </a:spcBef>
              <a:spcAft>
                <a:spcPts val="0"/>
              </a:spcAft>
              <a:buClr>
                <a:schemeClr val="dk1"/>
              </a:buClr>
              <a:buSzPts val="1100"/>
              <a:buFont typeface="Arial"/>
              <a:buNone/>
            </a:pPr>
            <a:r>
              <a:rPr lang="en" sz="1200"/>
              <a:t>D</a:t>
            </a:r>
            <a:r>
              <a:rPr lang="en" sz="1200">
                <a:solidFill>
                  <a:schemeClr val="dk1"/>
                </a:solidFill>
              </a:rPr>
              <a:t>esign and implement a connected, multi-visual business dashboard that transforms cleaned dataset insights into interactive, actionable visualizations.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b="1" lang="en" sz="1500"/>
              <a:t>OBJECTIVE:</a:t>
            </a:r>
            <a:endParaRPr b="1" sz="1500"/>
          </a:p>
          <a:p>
            <a:pPr indent="0" lvl="0" marL="0" rtl="0" algn="l">
              <a:spcBef>
                <a:spcPts val="0"/>
              </a:spcBef>
              <a:spcAft>
                <a:spcPts val="0"/>
              </a:spcAft>
              <a:buClr>
                <a:schemeClr val="dk1"/>
              </a:buClr>
              <a:buSzPts val="1100"/>
              <a:buFont typeface="Arial"/>
              <a:buNone/>
            </a:pPr>
            <a:r>
              <a:rPr lang="en" sz="1200">
                <a:solidFill>
                  <a:schemeClr val="dk1"/>
                </a:solidFill>
              </a:rPr>
              <a:t>The objective is to develop an interactive Python dashboard that provides useful insights into business data, comparing both human- and AI-assisted code.</a:t>
            </a:r>
            <a:endParaRPr sz="1900"/>
          </a:p>
        </p:txBody>
      </p:sp>
      <p:pic>
        <p:nvPicPr>
          <p:cNvPr id="71" name="Google Shape;71;p14"/>
          <p:cNvPicPr preferRelativeResize="0"/>
          <p:nvPr/>
        </p:nvPicPr>
        <p:blipFill>
          <a:blip r:embed="rId3">
            <a:alphaModFix/>
          </a:blip>
          <a:stretch>
            <a:fillRect/>
          </a:stretch>
        </p:blipFill>
        <p:spPr>
          <a:xfrm>
            <a:off x="4879200" y="1615871"/>
            <a:ext cx="3977499" cy="26516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PseudoCode</a:t>
            </a:r>
            <a:endParaRPr/>
          </a:p>
        </p:txBody>
      </p:sp>
      <p:sp>
        <p:nvSpPr>
          <p:cNvPr id="77" name="Google Shape;77;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8" name="Google Shape;78;p15"/>
          <p:cNvPicPr preferRelativeResize="0"/>
          <p:nvPr/>
        </p:nvPicPr>
        <p:blipFill>
          <a:blip r:embed="rId3">
            <a:alphaModFix/>
          </a:blip>
          <a:stretch>
            <a:fillRect/>
          </a:stretch>
        </p:blipFill>
        <p:spPr>
          <a:xfrm>
            <a:off x="1140896" y="1860875"/>
            <a:ext cx="2829775" cy="2067150"/>
          </a:xfrm>
          <a:prstGeom prst="rect">
            <a:avLst/>
          </a:prstGeom>
          <a:noFill/>
          <a:ln>
            <a:noFill/>
          </a:ln>
        </p:spPr>
      </p:pic>
      <p:pic>
        <p:nvPicPr>
          <p:cNvPr id="79" name="Google Shape;79;p15"/>
          <p:cNvPicPr preferRelativeResize="0"/>
          <p:nvPr/>
        </p:nvPicPr>
        <p:blipFill>
          <a:blip r:embed="rId4">
            <a:alphaModFix/>
          </a:blip>
          <a:stretch>
            <a:fillRect/>
          </a:stretch>
        </p:blipFill>
        <p:spPr>
          <a:xfrm>
            <a:off x="4802913" y="1846700"/>
            <a:ext cx="3514725" cy="2095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PseudoCode</a:t>
            </a:r>
            <a:endParaRPr/>
          </a:p>
        </p:txBody>
      </p:sp>
      <p:sp>
        <p:nvSpPr>
          <p:cNvPr id="85" name="Google Shape;85;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6" name="Google Shape;86;p16"/>
          <p:cNvPicPr preferRelativeResize="0"/>
          <p:nvPr/>
        </p:nvPicPr>
        <p:blipFill>
          <a:blip r:embed="rId3">
            <a:alphaModFix/>
          </a:blip>
          <a:stretch>
            <a:fillRect/>
          </a:stretch>
        </p:blipFill>
        <p:spPr>
          <a:xfrm>
            <a:off x="612025" y="2052925"/>
            <a:ext cx="4589375" cy="1638300"/>
          </a:xfrm>
          <a:prstGeom prst="rect">
            <a:avLst/>
          </a:prstGeom>
          <a:noFill/>
          <a:ln>
            <a:noFill/>
          </a:ln>
        </p:spPr>
      </p:pic>
      <p:pic>
        <p:nvPicPr>
          <p:cNvPr id="87" name="Google Shape;87;p16"/>
          <p:cNvPicPr preferRelativeResize="0"/>
          <p:nvPr/>
        </p:nvPicPr>
        <p:blipFill>
          <a:blip r:embed="rId4">
            <a:alphaModFix/>
          </a:blip>
          <a:stretch>
            <a:fillRect/>
          </a:stretch>
        </p:blipFill>
        <p:spPr>
          <a:xfrm>
            <a:off x="5533500" y="1118450"/>
            <a:ext cx="2633500" cy="3821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Dashboard Development</a:t>
            </a:r>
            <a:endParaRPr/>
          </a:p>
        </p:txBody>
      </p:sp>
      <p:sp>
        <p:nvSpPr>
          <p:cNvPr id="93" name="Google Shape;93;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4" name="Google Shape;94;p17"/>
          <p:cNvPicPr preferRelativeResize="0"/>
          <p:nvPr/>
        </p:nvPicPr>
        <p:blipFill>
          <a:blip r:embed="rId3">
            <a:alphaModFix/>
          </a:blip>
          <a:stretch>
            <a:fillRect/>
          </a:stretch>
        </p:blipFill>
        <p:spPr>
          <a:xfrm>
            <a:off x="1600200" y="1382250"/>
            <a:ext cx="5943600" cy="2162175"/>
          </a:xfrm>
          <a:prstGeom prst="rect">
            <a:avLst/>
          </a:prstGeom>
          <a:noFill/>
          <a:ln>
            <a:noFill/>
          </a:ln>
        </p:spPr>
      </p:pic>
      <p:pic>
        <p:nvPicPr>
          <p:cNvPr id="95" name="Google Shape;95;p17"/>
          <p:cNvPicPr preferRelativeResize="0"/>
          <p:nvPr/>
        </p:nvPicPr>
        <p:blipFill>
          <a:blip r:embed="rId4">
            <a:alphaModFix/>
          </a:blip>
          <a:stretch>
            <a:fillRect/>
          </a:stretch>
        </p:blipFill>
        <p:spPr>
          <a:xfrm>
            <a:off x="1600200" y="3638550"/>
            <a:ext cx="5943600" cy="101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01" name="Google Shape;101;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2" name="Google Shape;102;p18"/>
          <p:cNvPicPr preferRelativeResize="0"/>
          <p:nvPr/>
        </p:nvPicPr>
        <p:blipFill>
          <a:blip r:embed="rId3">
            <a:alphaModFix/>
          </a:blip>
          <a:stretch>
            <a:fillRect/>
          </a:stretch>
        </p:blipFill>
        <p:spPr>
          <a:xfrm>
            <a:off x="1446125" y="948025"/>
            <a:ext cx="5943600" cy="923925"/>
          </a:xfrm>
          <a:prstGeom prst="rect">
            <a:avLst/>
          </a:prstGeom>
          <a:noFill/>
          <a:ln>
            <a:noFill/>
          </a:ln>
        </p:spPr>
      </p:pic>
      <p:pic>
        <p:nvPicPr>
          <p:cNvPr id="103" name="Google Shape;103;p18"/>
          <p:cNvPicPr preferRelativeResize="0"/>
          <p:nvPr/>
        </p:nvPicPr>
        <p:blipFill>
          <a:blip r:embed="rId4">
            <a:alphaModFix/>
          </a:blip>
          <a:stretch>
            <a:fillRect/>
          </a:stretch>
        </p:blipFill>
        <p:spPr>
          <a:xfrm>
            <a:off x="1446125" y="2000575"/>
            <a:ext cx="5943600" cy="205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09" name="Google Shape;109;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0" name="Google Shape;110;p19"/>
          <p:cNvPicPr preferRelativeResize="0"/>
          <p:nvPr/>
        </p:nvPicPr>
        <p:blipFill>
          <a:blip r:embed="rId3">
            <a:alphaModFix/>
          </a:blip>
          <a:stretch>
            <a:fillRect/>
          </a:stretch>
        </p:blipFill>
        <p:spPr>
          <a:xfrm>
            <a:off x="1315000" y="458025"/>
            <a:ext cx="5943600" cy="1371600"/>
          </a:xfrm>
          <a:prstGeom prst="rect">
            <a:avLst/>
          </a:prstGeom>
          <a:noFill/>
          <a:ln>
            <a:noFill/>
          </a:ln>
        </p:spPr>
      </p:pic>
      <p:pic>
        <p:nvPicPr>
          <p:cNvPr id="111" name="Google Shape;111;p19"/>
          <p:cNvPicPr preferRelativeResize="0"/>
          <p:nvPr/>
        </p:nvPicPr>
        <p:blipFill>
          <a:blip r:embed="rId4">
            <a:alphaModFix/>
          </a:blip>
          <a:stretch>
            <a:fillRect/>
          </a:stretch>
        </p:blipFill>
        <p:spPr>
          <a:xfrm>
            <a:off x="1315000" y="1947863"/>
            <a:ext cx="5943600" cy="1247775"/>
          </a:xfrm>
          <a:prstGeom prst="rect">
            <a:avLst/>
          </a:prstGeom>
          <a:noFill/>
          <a:ln>
            <a:noFill/>
          </a:ln>
        </p:spPr>
      </p:pic>
      <p:pic>
        <p:nvPicPr>
          <p:cNvPr id="112" name="Google Shape;112;p19"/>
          <p:cNvPicPr preferRelativeResize="0"/>
          <p:nvPr/>
        </p:nvPicPr>
        <p:blipFill>
          <a:blip r:embed="rId5">
            <a:alphaModFix/>
          </a:blip>
          <a:stretch>
            <a:fillRect/>
          </a:stretch>
        </p:blipFill>
        <p:spPr>
          <a:xfrm>
            <a:off x="1315000" y="3313900"/>
            <a:ext cx="5943600" cy="1152525"/>
          </a:xfrm>
          <a:prstGeom prst="rect">
            <a:avLst/>
          </a:prstGeom>
          <a:noFill/>
          <a:ln>
            <a:noFill/>
          </a:ln>
        </p:spPr>
      </p:pic>
      <p:pic>
        <p:nvPicPr>
          <p:cNvPr id="113" name="Google Shape;113;p19"/>
          <p:cNvPicPr preferRelativeResize="0"/>
          <p:nvPr/>
        </p:nvPicPr>
        <p:blipFill>
          <a:blip r:embed="rId6">
            <a:alphaModFix/>
          </a:blip>
          <a:stretch>
            <a:fillRect/>
          </a:stretch>
        </p:blipFill>
        <p:spPr>
          <a:xfrm>
            <a:off x="1315000" y="4584675"/>
            <a:ext cx="5943600" cy="34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19" name="Google Shape;119;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 name="Google Shape;120;p20"/>
          <p:cNvPicPr preferRelativeResize="0"/>
          <p:nvPr/>
        </p:nvPicPr>
        <p:blipFill>
          <a:blip r:embed="rId3">
            <a:alphaModFix/>
          </a:blip>
          <a:stretch>
            <a:fillRect/>
          </a:stretch>
        </p:blipFill>
        <p:spPr>
          <a:xfrm>
            <a:off x="0" y="366831"/>
            <a:ext cx="9144002" cy="44098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Human</a:t>
            </a:r>
            <a:endParaRPr/>
          </a:p>
        </p:txBody>
      </p:sp>
      <p:sp>
        <p:nvSpPr>
          <p:cNvPr id="126" name="Google Shape;126;p21"/>
          <p:cNvSpPr txBox="1"/>
          <p:nvPr>
            <p:ph idx="1" type="body"/>
          </p:nvPr>
        </p:nvSpPr>
        <p:spPr>
          <a:xfrm>
            <a:off x="387900" y="1258675"/>
            <a:ext cx="8368200" cy="3310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Average vs Total Toggle</a:t>
            </a:r>
            <a:endParaRPr/>
          </a:p>
        </p:txBody>
      </p:sp>
      <p:pic>
        <p:nvPicPr>
          <p:cNvPr id="127" name="Google Shape;127;p21"/>
          <p:cNvPicPr preferRelativeResize="0"/>
          <p:nvPr/>
        </p:nvPicPr>
        <p:blipFill>
          <a:blip r:embed="rId3">
            <a:alphaModFix/>
          </a:blip>
          <a:stretch>
            <a:fillRect/>
          </a:stretch>
        </p:blipFill>
        <p:spPr>
          <a:xfrm>
            <a:off x="140025" y="1724875"/>
            <a:ext cx="4261024" cy="2424300"/>
          </a:xfrm>
          <a:prstGeom prst="rect">
            <a:avLst/>
          </a:prstGeom>
          <a:noFill/>
          <a:ln>
            <a:noFill/>
          </a:ln>
        </p:spPr>
      </p:pic>
      <p:pic>
        <p:nvPicPr>
          <p:cNvPr id="128" name="Google Shape;128;p21"/>
          <p:cNvPicPr preferRelativeResize="0"/>
          <p:nvPr/>
        </p:nvPicPr>
        <p:blipFill>
          <a:blip r:embed="rId4">
            <a:alphaModFix/>
          </a:blip>
          <a:stretch>
            <a:fillRect/>
          </a:stretch>
        </p:blipFill>
        <p:spPr>
          <a:xfrm>
            <a:off x="4571989" y="1746287"/>
            <a:ext cx="4350311" cy="238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Human</a:t>
            </a:r>
            <a:endParaRPr/>
          </a:p>
        </p:txBody>
      </p:sp>
      <p:sp>
        <p:nvSpPr>
          <p:cNvPr id="134" name="Google Shape;134;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Loan Amount Slider</a:t>
            </a:r>
            <a:endParaRPr/>
          </a:p>
        </p:txBody>
      </p:sp>
      <p:pic>
        <p:nvPicPr>
          <p:cNvPr id="135" name="Google Shape;135;p22"/>
          <p:cNvPicPr preferRelativeResize="0"/>
          <p:nvPr/>
        </p:nvPicPr>
        <p:blipFill>
          <a:blip r:embed="rId3">
            <a:alphaModFix/>
          </a:blip>
          <a:stretch>
            <a:fillRect/>
          </a:stretch>
        </p:blipFill>
        <p:spPr>
          <a:xfrm>
            <a:off x="-37450" y="2191025"/>
            <a:ext cx="4683700" cy="2261675"/>
          </a:xfrm>
          <a:prstGeom prst="rect">
            <a:avLst/>
          </a:prstGeom>
          <a:noFill/>
          <a:ln>
            <a:noFill/>
          </a:ln>
        </p:spPr>
      </p:pic>
      <p:pic>
        <p:nvPicPr>
          <p:cNvPr id="136" name="Google Shape;136;p22"/>
          <p:cNvPicPr preferRelativeResize="0"/>
          <p:nvPr/>
        </p:nvPicPr>
        <p:blipFill>
          <a:blip r:embed="rId4">
            <a:alphaModFix/>
          </a:blip>
          <a:stretch>
            <a:fillRect/>
          </a:stretch>
        </p:blipFill>
        <p:spPr>
          <a:xfrm>
            <a:off x="4646250" y="2191025"/>
            <a:ext cx="4476999" cy="2312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Human</a:t>
            </a:r>
            <a:endParaRPr/>
          </a:p>
        </p:txBody>
      </p:sp>
      <p:sp>
        <p:nvSpPr>
          <p:cNvPr id="142" name="Google Shape;142;p2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Percent vs Count Toggle</a:t>
            </a:r>
            <a:endParaRPr/>
          </a:p>
          <a:p>
            <a:pPr indent="0" lvl="0" marL="0" rtl="0" algn="l">
              <a:spcBef>
                <a:spcPts val="1200"/>
              </a:spcBef>
              <a:spcAft>
                <a:spcPts val="1200"/>
              </a:spcAft>
              <a:buNone/>
            </a:pPr>
            <a:r>
              <a:t/>
            </a:r>
            <a:endParaRPr/>
          </a:p>
        </p:txBody>
      </p:sp>
      <p:pic>
        <p:nvPicPr>
          <p:cNvPr id="143" name="Google Shape;143;p23"/>
          <p:cNvPicPr preferRelativeResize="0"/>
          <p:nvPr/>
        </p:nvPicPr>
        <p:blipFill>
          <a:blip r:embed="rId3">
            <a:alphaModFix/>
          </a:blip>
          <a:stretch>
            <a:fillRect/>
          </a:stretch>
        </p:blipFill>
        <p:spPr>
          <a:xfrm>
            <a:off x="46600" y="2303800"/>
            <a:ext cx="4410801" cy="2311550"/>
          </a:xfrm>
          <a:prstGeom prst="rect">
            <a:avLst/>
          </a:prstGeom>
          <a:noFill/>
          <a:ln>
            <a:noFill/>
          </a:ln>
        </p:spPr>
      </p:pic>
      <p:pic>
        <p:nvPicPr>
          <p:cNvPr id="144" name="Google Shape;144;p23"/>
          <p:cNvPicPr preferRelativeResize="0"/>
          <p:nvPr/>
        </p:nvPicPr>
        <p:blipFill>
          <a:blip r:embed="rId4">
            <a:alphaModFix/>
          </a:blip>
          <a:stretch>
            <a:fillRect/>
          </a:stretch>
        </p:blipFill>
        <p:spPr>
          <a:xfrm>
            <a:off x="4630798" y="2286375"/>
            <a:ext cx="4435428" cy="234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Human</a:t>
            </a:r>
            <a:endParaRPr/>
          </a:p>
        </p:txBody>
      </p:sp>
      <p:sp>
        <p:nvSpPr>
          <p:cNvPr id="150" name="Google Shape;150;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Filter by Homeownership</a:t>
            </a:r>
            <a:endParaRPr/>
          </a:p>
          <a:p>
            <a:pPr indent="0" lvl="0" marL="0" rtl="0" algn="l">
              <a:spcBef>
                <a:spcPts val="1200"/>
              </a:spcBef>
              <a:spcAft>
                <a:spcPts val="1200"/>
              </a:spcAft>
              <a:buNone/>
            </a:pPr>
            <a:r>
              <a:t/>
            </a:r>
            <a:endParaRPr/>
          </a:p>
        </p:txBody>
      </p:sp>
      <p:pic>
        <p:nvPicPr>
          <p:cNvPr id="151" name="Google Shape;151;p24"/>
          <p:cNvPicPr preferRelativeResize="0"/>
          <p:nvPr/>
        </p:nvPicPr>
        <p:blipFill>
          <a:blip r:embed="rId3">
            <a:alphaModFix/>
          </a:blip>
          <a:stretch>
            <a:fillRect/>
          </a:stretch>
        </p:blipFill>
        <p:spPr>
          <a:xfrm>
            <a:off x="961300" y="1924825"/>
            <a:ext cx="2152650" cy="781050"/>
          </a:xfrm>
          <a:prstGeom prst="rect">
            <a:avLst/>
          </a:prstGeom>
          <a:noFill/>
          <a:ln>
            <a:noFill/>
          </a:ln>
        </p:spPr>
      </p:pic>
      <p:pic>
        <p:nvPicPr>
          <p:cNvPr id="152" name="Google Shape;152;p24"/>
          <p:cNvPicPr preferRelativeResize="0"/>
          <p:nvPr/>
        </p:nvPicPr>
        <p:blipFill>
          <a:blip r:embed="rId4">
            <a:alphaModFix/>
          </a:blip>
          <a:stretch>
            <a:fillRect/>
          </a:stretch>
        </p:blipFill>
        <p:spPr>
          <a:xfrm>
            <a:off x="425200" y="2870850"/>
            <a:ext cx="3972426" cy="2036500"/>
          </a:xfrm>
          <a:prstGeom prst="rect">
            <a:avLst/>
          </a:prstGeom>
          <a:noFill/>
          <a:ln>
            <a:noFill/>
          </a:ln>
        </p:spPr>
      </p:pic>
      <p:pic>
        <p:nvPicPr>
          <p:cNvPr id="153" name="Google Shape;153;p24"/>
          <p:cNvPicPr preferRelativeResize="0"/>
          <p:nvPr/>
        </p:nvPicPr>
        <p:blipFill>
          <a:blip r:embed="rId5">
            <a:alphaModFix/>
          </a:blip>
          <a:stretch>
            <a:fillRect/>
          </a:stretch>
        </p:blipFill>
        <p:spPr>
          <a:xfrm>
            <a:off x="5503800" y="1962925"/>
            <a:ext cx="2133600" cy="704850"/>
          </a:xfrm>
          <a:prstGeom prst="rect">
            <a:avLst/>
          </a:prstGeom>
          <a:noFill/>
          <a:ln>
            <a:noFill/>
          </a:ln>
        </p:spPr>
      </p:pic>
      <p:pic>
        <p:nvPicPr>
          <p:cNvPr id="154" name="Google Shape;154;p24"/>
          <p:cNvPicPr preferRelativeResize="0"/>
          <p:nvPr/>
        </p:nvPicPr>
        <p:blipFill>
          <a:blip r:embed="rId6">
            <a:alphaModFix/>
          </a:blip>
          <a:stretch>
            <a:fillRect/>
          </a:stretch>
        </p:blipFill>
        <p:spPr>
          <a:xfrm>
            <a:off x="4722125" y="2870850"/>
            <a:ext cx="3831324" cy="1972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AI</a:t>
            </a:r>
            <a:endParaRPr/>
          </a:p>
        </p:txBody>
      </p:sp>
      <p:sp>
        <p:nvSpPr>
          <p:cNvPr id="160" name="Google Shape;160;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Shading</a:t>
            </a:r>
            <a:endParaRPr/>
          </a:p>
          <a:p>
            <a:pPr indent="0" lvl="0" marL="0" rtl="0" algn="l">
              <a:spcBef>
                <a:spcPts val="1200"/>
              </a:spcBef>
              <a:spcAft>
                <a:spcPts val="1200"/>
              </a:spcAft>
              <a:buNone/>
            </a:pPr>
            <a:r>
              <a:t/>
            </a:r>
            <a:endParaRPr/>
          </a:p>
        </p:txBody>
      </p:sp>
      <p:pic>
        <p:nvPicPr>
          <p:cNvPr id="161" name="Google Shape;161;p25"/>
          <p:cNvPicPr preferRelativeResize="0"/>
          <p:nvPr/>
        </p:nvPicPr>
        <p:blipFill>
          <a:blip r:embed="rId3">
            <a:alphaModFix/>
          </a:blip>
          <a:stretch>
            <a:fillRect/>
          </a:stretch>
        </p:blipFill>
        <p:spPr>
          <a:xfrm>
            <a:off x="1794775" y="1524475"/>
            <a:ext cx="6207001" cy="3362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AI</a:t>
            </a:r>
            <a:endParaRPr/>
          </a:p>
        </p:txBody>
      </p:sp>
      <p:sp>
        <p:nvSpPr>
          <p:cNvPr id="167" name="Google Shape;167;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Sample Size Labels</a:t>
            </a:r>
            <a:endParaRPr/>
          </a:p>
          <a:p>
            <a:pPr indent="0" lvl="0" marL="0" rtl="0" algn="l">
              <a:spcBef>
                <a:spcPts val="1200"/>
              </a:spcBef>
              <a:spcAft>
                <a:spcPts val="1200"/>
              </a:spcAft>
              <a:buNone/>
            </a:pPr>
            <a:r>
              <a:t/>
            </a:r>
            <a:endParaRPr/>
          </a:p>
        </p:txBody>
      </p:sp>
      <p:pic>
        <p:nvPicPr>
          <p:cNvPr id="168" name="Google Shape;168;p26"/>
          <p:cNvPicPr preferRelativeResize="0"/>
          <p:nvPr/>
        </p:nvPicPr>
        <p:blipFill>
          <a:blip r:embed="rId3">
            <a:alphaModFix/>
          </a:blip>
          <a:stretch>
            <a:fillRect/>
          </a:stretch>
        </p:blipFill>
        <p:spPr>
          <a:xfrm>
            <a:off x="1965725" y="1886075"/>
            <a:ext cx="5778176" cy="3159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Feature Enhancements - AI</a:t>
            </a:r>
            <a:endParaRPr/>
          </a:p>
        </p:txBody>
      </p:sp>
      <p:sp>
        <p:nvSpPr>
          <p:cNvPr id="174" name="Google Shape;174;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Highlight for Pie Chart</a:t>
            </a:r>
            <a:endParaRPr/>
          </a:p>
          <a:p>
            <a:pPr indent="0" lvl="0" marL="0" rtl="0" algn="l">
              <a:spcBef>
                <a:spcPts val="1200"/>
              </a:spcBef>
              <a:spcAft>
                <a:spcPts val="1200"/>
              </a:spcAft>
              <a:buNone/>
            </a:pPr>
            <a:r>
              <a:t/>
            </a:r>
            <a:endParaRPr/>
          </a:p>
        </p:txBody>
      </p:sp>
      <p:pic>
        <p:nvPicPr>
          <p:cNvPr id="175" name="Google Shape;175;p27"/>
          <p:cNvPicPr preferRelativeResize="0"/>
          <p:nvPr/>
        </p:nvPicPr>
        <p:blipFill>
          <a:blip r:embed="rId3">
            <a:alphaModFix/>
          </a:blip>
          <a:stretch>
            <a:fillRect/>
          </a:stretch>
        </p:blipFill>
        <p:spPr>
          <a:xfrm>
            <a:off x="1616075" y="1884325"/>
            <a:ext cx="6439299" cy="3112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81" name="Google Shape;181;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2" name="Google Shape;182;p28"/>
          <p:cNvPicPr preferRelativeResize="0"/>
          <p:nvPr/>
        </p:nvPicPr>
        <p:blipFill>
          <a:blip r:embed="rId3">
            <a:alphaModFix/>
          </a:blip>
          <a:stretch>
            <a:fillRect/>
          </a:stretch>
        </p:blipFill>
        <p:spPr>
          <a:xfrm>
            <a:off x="0" y="2141"/>
            <a:ext cx="9144000" cy="513921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Visualization 1 Enhancements</a:t>
            </a:r>
            <a:endParaRPr/>
          </a:p>
        </p:txBody>
      </p:sp>
      <p:sp>
        <p:nvSpPr>
          <p:cNvPr id="188" name="Google Shape;188;p2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9" name="Google Shape;189;p29"/>
          <p:cNvPicPr preferRelativeResize="0"/>
          <p:nvPr/>
        </p:nvPicPr>
        <p:blipFill>
          <a:blip r:embed="rId3">
            <a:alphaModFix/>
          </a:blip>
          <a:stretch>
            <a:fillRect/>
          </a:stretch>
        </p:blipFill>
        <p:spPr>
          <a:xfrm>
            <a:off x="387888" y="1489825"/>
            <a:ext cx="8429625" cy="1085850"/>
          </a:xfrm>
          <a:prstGeom prst="rect">
            <a:avLst/>
          </a:prstGeom>
          <a:noFill/>
          <a:ln>
            <a:noFill/>
          </a:ln>
        </p:spPr>
      </p:pic>
      <p:pic>
        <p:nvPicPr>
          <p:cNvPr id="190" name="Google Shape;190;p29"/>
          <p:cNvPicPr preferRelativeResize="0"/>
          <p:nvPr/>
        </p:nvPicPr>
        <p:blipFill>
          <a:blip r:embed="rId4">
            <a:alphaModFix/>
          </a:blip>
          <a:stretch>
            <a:fillRect/>
          </a:stretch>
        </p:blipFill>
        <p:spPr>
          <a:xfrm>
            <a:off x="387900" y="2827800"/>
            <a:ext cx="5886450" cy="1809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Visualization 2 Enhancements</a:t>
            </a:r>
            <a:endParaRPr/>
          </a:p>
        </p:txBody>
      </p:sp>
      <p:sp>
        <p:nvSpPr>
          <p:cNvPr id="196" name="Google Shape;196;p3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30"/>
          <p:cNvPicPr preferRelativeResize="0"/>
          <p:nvPr/>
        </p:nvPicPr>
        <p:blipFill>
          <a:blip r:embed="rId3">
            <a:alphaModFix/>
          </a:blip>
          <a:stretch>
            <a:fillRect/>
          </a:stretch>
        </p:blipFill>
        <p:spPr>
          <a:xfrm>
            <a:off x="538175" y="1144125"/>
            <a:ext cx="7380650" cy="1568625"/>
          </a:xfrm>
          <a:prstGeom prst="rect">
            <a:avLst/>
          </a:prstGeom>
          <a:noFill/>
          <a:ln>
            <a:noFill/>
          </a:ln>
        </p:spPr>
      </p:pic>
      <p:pic>
        <p:nvPicPr>
          <p:cNvPr id="198" name="Google Shape;198;p30"/>
          <p:cNvPicPr preferRelativeResize="0"/>
          <p:nvPr/>
        </p:nvPicPr>
        <p:blipFill>
          <a:blip r:embed="rId4">
            <a:alphaModFix/>
          </a:blip>
          <a:stretch>
            <a:fillRect/>
          </a:stretch>
        </p:blipFill>
        <p:spPr>
          <a:xfrm>
            <a:off x="538175" y="2712750"/>
            <a:ext cx="3261100" cy="2241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Visualization 3 Enhancements</a:t>
            </a:r>
            <a:endParaRPr/>
          </a:p>
        </p:txBody>
      </p:sp>
      <p:sp>
        <p:nvSpPr>
          <p:cNvPr id="204" name="Google Shape;204;p3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1"/>
          <p:cNvPicPr preferRelativeResize="0"/>
          <p:nvPr/>
        </p:nvPicPr>
        <p:blipFill>
          <a:blip r:embed="rId3">
            <a:alphaModFix/>
          </a:blip>
          <a:stretch>
            <a:fillRect/>
          </a:stretch>
        </p:blipFill>
        <p:spPr>
          <a:xfrm>
            <a:off x="463925" y="1489813"/>
            <a:ext cx="7543800" cy="581025"/>
          </a:xfrm>
          <a:prstGeom prst="rect">
            <a:avLst/>
          </a:prstGeom>
          <a:noFill/>
          <a:ln>
            <a:noFill/>
          </a:ln>
        </p:spPr>
      </p:pic>
      <p:pic>
        <p:nvPicPr>
          <p:cNvPr id="206" name="Google Shape;206;p31"/>
          <p:cNvPicPr preferRelativeResize="0"/>
          <p:nvPr/>
        </p:nvPicPr>
        <p:blipFill>
          <a:blip r:embed="rId4">
            <a:alphaModFix/>
          </a:blip>
          <a:stretch>
            <a:fillRect/>
          </a:stretch>
        </p:blipFill>
        <p:spPr>
          <a:xfrm>
            <a:off x="463913" y="2176750"/>
            <a:ext cx="6981825" cy="2495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Visualization 4 Enhancements</a:t>
            </a:r>
            <a:endParaRPr/>
          </a:p>
        </p:txBody>
      </p:sp>
      <p:sp>
        <p:nvSpPr>
          <p:cNvPr id="212" name="Google Shape;212;p3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3" name="Google Shape;213;p32"/>
          <p:cNvPicPr preferRelativeResize="0"/>
          <p:nvPr/>
        </p:nvPicPr>
        <p:blipFill>
          <a:blip r:embed="rId3">
            <a:alphaModFix/>
          </a:blip>
          <a:stretch>
            <a:fillRect/>
          </a:stretch>
        </p:blipFill>
        <p:spPr>
          <a:xfrm>
            <a:off x="387900" y="1673550"/>
            <a:ext cx="8027226" cy="686100"/>
          </a:xfrm>
          <a:prstGeom prst="rect">
            <a:avLst/>
          </a:prstGeom>
          <a:noFill/>
          <a:ln>
            <a:noFill/>
          </a:ln>
        </p:spPr>
      </p:pic>
      <p:pic>
        <p:nvPicPr>
          <p:cNvPr id="214" name="Google Shape;214;p32"/>
          <p:cNvPicPr preferRelativeResize="0"/>
          <p:nvPr/>
        </p:nvPicPr>
        <p:blipFill>
          <a:blip r:embed="rId4">
            <a:alphaModFix/>
          </a:blip>
          <a:stretch>
            <a:fillRect/>
          </a:stretch>
        </p:blipFill>
        <p:spPr>
          <a:xfrm>
            <a:off x="387900" y="2471700"/>
            <a:ext cx="6553200" cy="609600"/>
          </a:xfrm>
          <a:prstGeom prst="rect">
            <a:avLst/>
          </a:prstGeom>
          <a:noFill/>
          <a:ln>
            <a:noFill/>
          </a:ln>
        </p:spPr>
      </p:pic>
      <p:pic>
        <p:nvPicPr>
          <p:cNvPr id="215" name="Google Shape;215;p32"/>
          <p:cNvPicPr preferRelativeResize="0"/>
          <p:nvPr/>
        </p:nvPicPr>
        <p:blipFill>
          <a:blip r:embed="rId5">
            <a:alphaModFix/>
          </a:blip>
          <a:stretch>
            <a:fillRect/>
          </a:stretch>
        </p:blipFill>
        <p:spPr>
          <a:xfrm>
            <a:off x="387900" y="3193350"/>
            <a:ext cx="8656551" cy="763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3"/>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Comparative Evaluation: AI vs Human </a:t>
            </a:r>
            <a:endParaRPr/>
          </a:p>
          <a:p>
            <a:pPr indent="0" lvl="0" marL="0" rtl="0" algn="l">
              <a:spcBef>
                <a:spcPts val="0"/>
              </a:spcBef>
              <a:spcAft>
                <a:spcPts val="0"/>
              </a:spcAft>
              <a:buNone/>
            </a:pPr>
            <a:r>
              <a:rPr lang="en" sz="2222"/>
              <a:t>Technical Comparison</a:t>
            </a:r>
            <a:endParaRPr sz="2222"/>
          </a:p>
        </p:txBody>
      </p:sp>
      <p:sp>
        <p:nvSpPr>
          <p:cNvPr id="221" name="Google Shape;221;p3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2" name="Google Shape;222;p33"/>
          <p:cNvPicPr preferRelativeResize="0"/>
          <p:nvPr/>
        </p:nvPicPr>
        <p:blipFill>
          <a:blip r:embed="rId3">
            <a:alphaModFix/>
          </a:blip>
          <a:stretch>
            <a:fillRect/>
          </a:stretch>
        </p:blipFill>
        <p:spPr>
          <a:xfrm>
            <a:off x="-1" y="1410025"/>
            <a:ext cx="4417075" cy="2997625"/>
          </a:xfrm>
          <a:prstGeom prst="rect">
            <a:avLst/>
          </a:prstGeom>
          <a:noFill/>
          <a:ln>
            <a:noFill/>
          </a:ln>
        </p:spPr>
      </p:pic>
      <p:pic>
        <p:nvPicPr>
          <p:cNvPr id="223" name="Google Shape;223;p33"/>
          <p:cNvPicPr preferRelativeResize="0"/>
          <p:nvPr/>
        </p:nvPicPr>
        <p:blipFill>
          <a:blip r:embed="rId4">
            <a:alphaModFix/>
          </a:blip>
          <a:stretch>
            <a:fillRect/>
          </a:stretch>
        </p:blipFill>
        <p:spPr>
          <a:xfrm>
            <a:off x="4417075" y="1907400"/>
            <a:ext cx="4726925" cy="25002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000"/>
              <a:t>Business Focused Comparison</a:t>
            </a:r>
            <a:endParaRPr sz="2000"/>
          </a:p>
        </p:txBody>
      </p:sp>
      <p:sp>
        <p:nvSpPr>
          <p:cNvPr id="229" name="Google Shape;229;p3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0" name="Google Shape;230;p34"/>
          <p:cNvPicPr preferRelativeResize="0"/>
          <p:nvPr/>
        </p:nvPicPr>
        <p:blipFill>
          <a:blip r:embed="rId3">
            <a:alphaModFix/>
          </a:blip>
          <a:stretch>
            <a:fillRect/>
          </a:stretch>
        </p:blipFill>
        <p:spPr>
          <a:xfrm>
            <a:off x="-1" y="1336574"/>
            <a:ext cx="4572000" cy="2891768"/>
          </a:xfrm>
          <a:prstGeom prst="rect">
            <a:avLst/>
          </a:prstGeom>
          <a:noFill/>
          <a:ln>
            <a:noFill/>
          </a:ln>
        </p:spPr>
      </p:pic>
      <p:pic>
        <p:nvPicPr>
          <p:cNvPr id="231" name="Google Shape;231;p34"/>
          <p:cNvPicPr preferRelativeResize="0"/>
          <p:nvPr/>
        </p:nvPicPr>
        <p:blipFill>
          <a:blip r:embed="rId4">
            <a:alphaModFix/>
          </a:blip>
          <a:stretch>
            <a:fillRect/>
          </a:stretch>
        </p:blipFill>
        <p:spPr>
          <a:xfrm>
            <a:off x="4571999" y="2000499"/>
            <a:ext cx="4572000" cy="22278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Analysis and Discussion</a:t>
            </a:r>
            <a:endParaRPr/>
          </a:p>
        </p:txBody>
      </p:sp>
      <p:sp>
        <p:nvSpPr>
          <p:cNvPr id="237" name="Google Shape;237;p3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1954">
                <a:latin typeface="Arial"/>
                <a:ea typeface="Arial"/>
                <a:cs typeface="Arial"/>
                <a:sym typeface="Arial"/>
              </a:rPr>
              <a:t>Overall, the AI generated enhancements were more efficient. They often worked after the first try, requiring no additional debugging. Furthermore, they were completed in seconds, making them much more time efficient. The downside is, as suggestions, they did not typically bring as much business value as the human ideas. We feel that the optimal approach would be for humans to come up with the enhancement idea, then have the AI implement it, subject to oversight.</a:t>
            </a:r>
            <a:endParaRPr sz="1954">
              <a:latin typeface="Arial"/>
              <a:ea typeface="Arial"/>
              <a:cs typeface="Arial"/>
              <a:sym typeface="Arial"/>
            </a:endParaRPr>
          </a:p>
          <a:p>
            <a:pPr indent="0" lvl="0" marL="0" rtl="0" algn="l">
              <a:spcBef>
                <a:spcPts val="0"/>
              </a:spcBef>
              <a:spcAft>
                <a:spcPts val="0"/>
              </a:spcAft>
              <a:buNone/>
            </a:pPr>
            <a:r>
              <a:t/>
            </a:r>
            <a:endParaRPr sz="1954">
              <a:latin typeface="Arial"/>
              <a:ea typeface="Arial"/>
              <a:cs typeface="Arial"/>
              <a:sym typeface="Arial"/>
            </a:endParaRPr>
          </a:p>
          <a:p>
            <a:pPr indent="0" lvl="0" marL="0" rtl="0" algn="l">
              <a:spcBef>
                <a:spcPts val="0"/>
              </a:spcBef>
              <a:spcAft>
                <a:spcPts val="0"/>
              </a:spcAft>
              <a:buNone/>
            </a:pPr>
            <a:r>
              <a:rPr lang="en" sz="1954">
                <a:latin typeface="Arial"/>
                <a:ea typeface="Arial"/>
                <a:cs typeface="Arial"/>
                <a:sym typeface="Arial"/>
              </a:rPr>
              <a:t>The one major problem we ran into making the visualizations interactively linked was getting the filters and sliders (specifically, the loan amount slider) to work on every visualization at the same time. We initially had applied these aspects within the visualization functions, but it became apparent that we needed a different approach. We made the filters and sliders global, then applied them in the section before the visualization functions.</a:t>
            </a:r>
            <a:endParaRPr sz="1954">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Conclusion</a:t>
            </a:r>
            <a:endParaRPr/>
          </a:p>
        </p:txBody>
      </p:sp>
      <p:sp>
        <p:nvSpPr>
          <p:cNvPr id="243" name="Google Shape;243;p3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Arial"/>
                <a:ea typeface="Arial"/>
                <a:cs typeface="Arial"/>
                <a:sym typeface="Arial"/>
              </a:rPr>
              <a:t>In this project, we used AI to collaborate with us to create a dashboard that would visually display relevant business information into four dynamic charts from our previously created dataset. In general, AI assistance was more a boon than a bane, as it greatly improved our productivity. However, it was not omnipotent, and as our experience in the enhancement section clearly demonstrates, AI must be used as a partner with humans in the development process, not the standalone driver.</a:t>
            </a:r>
            <a:endParaRPr sz="2000">
              <a:latin typeface="Arial"/>
              <a:ea typeface="Arial"/>
              <a:cs typeface="Arial"/>
              <a:sym typeface="Arial"/>
            </a:endParaRPr>
          </a:p>
          <a:p>
            <a:pPr indent="0" lvl="0" marL="0" rtl="0" algn="l">
              <a:spcBef>
                <a:spcPts val="0"/>
              </a:spcBef>
              <a:spcAft>
                <a:spcPts val="120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